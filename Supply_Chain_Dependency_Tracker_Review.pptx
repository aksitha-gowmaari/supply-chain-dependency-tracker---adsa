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ADVANCED DATA STRUCTURES &amp; ALGORITHMS • COURSE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Supply Chain Dependency Tracker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Graph Architecture, Cycle Detection, Criticality Ranking &amp; Failure Simulation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Project Team: Aksitha &amp; Khyathi  |  Code Implementation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63 Suppliers</a:t>
            </a:r>
          </a:p>
          <a:p>
            <a:pPr>
              <a:defRPr sz="1000">
                <a:solidFill>
                  <a:srgbClr val="06B6D4"/>
                </a:solidFill>
              </a:defRPr>
            </a:pPr>
            <a:r>
              <a:t>Tier 0 to Tier 4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12064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5257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76 Dependencies</a:t>
            </a:r>
          </a:p>
          <a:p>
            <a:pPr>
              <a:defRPr sz="1000">
                <a:solidFill>
                  <a:srgbClr val="06B6D4"/>
                </a:solidFill>
              </a:defRPr>
            </a:pPr>
            <a:r>
              <a:t>Lead-Time Weighted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12064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5257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 Circular Deadlocks</a:t>
            </a:r>
          </a:p>
          <a:p>
            <a:pPr>
              <a:defRPr sz="1000">
                <a:solidFill>
                  <a:srgbClr val="06B6D4"/>
                </a:solidFill>
              </a:defRPr>
            </a:pPr>
            <a:r>
              <a:t>3-Color DFS Back-Edges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512064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5257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16 SPOFs Identified</a:t>
            </a:r>
          </a:p>
          <a:p>
            <a:pPr>
              <a:defRPr sz="1000">
                <a:solidFill>
                  <a:srgbClr val="06B6D4"/>
                </a:solidFill>
              </a:defRPr>
            </a:pPr>
            <a:r>
              <a:t>Single Points of Failure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ADSA FOUNDATION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Algorithmic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SUPPLY NETWORK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Multi-Tier Hidden Dependencies: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Real-world manufacturing relies on deep supply tiers. A manufacturer knows direct Tier 1 suppliers, but is blind to Tier 3 and 4 raw material nodes.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Deadlock Caused by Cycles: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Circular dependencies (Supplier A needs B, B needs C, C needs A) create topological deadlocks, halting production schedules before contracts can execute.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Single Points of Failure (SPOFs):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Suppliers with high downstream reliance and zero secondary backup sources pose catastrophic systemic failure risks.</a:t>
            </a:r>
          </a:p>
          <a:p>
            <a:pPr>
              <a:spcAft>
                <a:spcPts val="200"/>
              </a:spcAft>
              <a:defRPr b="1" sz="1200">
                <a:solidFill>
                  <a:srgbClr val="F8FAFC"/>
                </a:solidFill>
              </a:defRPr>
            </a:pPr>
            <a:r>
              <a:t>• Lead-Time Compounding: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Delays compound non-linearly across dependency chains, requiring weighted shortest path algorithms to identify critical procurement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ADSA ALGORITHMIC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✓ Dual Adjacency List Graph: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O(V + E) space representation with bidirectional lookup (dependencies &amp; dependents) optimized for sparse supplier networks.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Cycle Detection via 3-Color DFS: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Linear time O(V + E) detection using White/Gray/Black node coloring to flag recursive deadlocks.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Procurement Ordering via Kahn's Algorithm: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Topological sorting to establish valid component build sequences or identify cyclic blockers.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Reverse BFS Criticality Scoring: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BFS traversal over predecessor edges to quantify systemic blast radius (number of affected downstream suppliers).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Weighted Shortest Path via Dijkstra: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Min-heap priority queue O((V + E) log V) computing lowest lead-time procurement chains from root manufacturer.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Dynamic Failure Simulation: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Stress-testing node removals to determine impact on Tier 0 assembly and find alternate bypass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CODEBASE ORGANIZATION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Architecture &amp; Codebase Division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SRC/GRAPH.PY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OWNER: Aksitha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Custom Graph class data structure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Dual adjacency list implementation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O(1) neighbor &amp; predecessor lookups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CSV ingestion &amp; data sanitization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Smoke test harness &amp; representation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10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SRC/TRAVERSAL.PY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4884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OWNER: Aksitha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Iterative Depth-First Search (DFS)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Breadth-First Search (hop distance)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3-Color cycle detection algorithm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Kahn's Topological Sort build order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Cycle path reconstruction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10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SRC/RISK_SCORING.PY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8B5CF6"/>
                </a:solidFill>
              </a:defRPr>
            </a:pPr>
            <a:r>
              <a:t>OWNER: Khyathi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Reverse BFS downstream criticality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Single Point of Failure (SPOF) audit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Min-heap Dijkstra shortest lead-time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Alternate path bypass routing algorithm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Disruption blast-radius simulator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810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SRC/VISUALIZE.PY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4884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8B5CF6"/>
                </a:solidFill>
              </a:defRPr>
            </a:pPr>
            <a:r>
              <a:t>OWNER: Khyathi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NetworkX DiGraph conversion helper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Matplotlib dependency graph rendering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Color coding (SPOF, cycle, normal)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Node scaling by criticality score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Automated CLI risk alert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INTEGRATION &amp; VALIDATION (Aksitha + Khyathi Joint):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Pipeline entry point (src/main.py), Dataset modeling (data/), and Automated Unit Test Suite (tests/test_graph_algorithms.py) verifying 100% algorithm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1 • SRC/GRAPH.PY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Graph Data Structure &amp; 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DESIGN CHOICE: ADJACENCY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Why NOT an Adjacency Matrix?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Real-world supplier networks are SPARSE. Our network has 63 nodes and 76 edges. An adjacency matrix requires O(V^2) = 63 x 63 = 3,969 cells, of which over 98% would be empty zeros.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Space Complexity: O(V + E)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Using defaultdict(list) stores only existing dependency edges. Memory scales linearly with network size instead of quadratically.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Neighbor &amp; Predecessor Lookup: O(deg(v))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Checking who a supplier depends on takes time proportional only to its active connections, rather than iterating across all 63 nodes.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Dual Adjacency Implementation: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We maintain two concurrent hash maps:</a:t>
            </a:r>
            <a:br/>
            <a:r>
              <a:t> • self.adjacency: maps supplier -&gt; [(neighbor, weight)]</a:t>
            </a:r>
            <a:br/>
            <a:r>
              <a:t> • self.reverse_adjacency: maps supplier -&gt; [(dependent, weight)]</a:t>
            </a:r>
            <a:br/>
            <a:r>
              <a:t>This enables instant O(1) predecessor lookup needed for reverse BFS.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CODE STRUCTURE: CLASS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class Graph:</a:t>
            </a: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self.suppliers = {}          # supplier_id -&gt; metadata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self.adjacency = defaultdict(list)         # depends ON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self.reverse_adjacency = defaultdict(list) # depended ON by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    def add_supplier(self, supplier_id, name, tier, has_backup):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self.suppliers[supplier_id] = {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'name': name or supplier_id,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'tier': tier,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'has_backup': has_backup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    def add_dependency(self, from_id, to_id, weight=1.0):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        # Edge from_id -&gt; to_id means: from_id DEPENDS ON to_id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self.adjacency[from_id].append((to_id, weight))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self.reverse_adjacency[to_id].append((from_id, weight))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    def get_neighbors(self, supplier_id):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return self.adjacency.get(supplier_id, [])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    def get_predecessors(self, supplier_id):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return self.reverse_adjacency.get(supplier_id, [])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DATA PIPELINE • DATA/ DIRECTORY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Supply Chain Dataset &amp; Multi-Tier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5-TIER AUTOMOTIVE SUPPLY CHAIN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8B5CF6"/>
                </a:solidFill>
              </a:defRPr>
            </a:pPr>
            <a:r>
              <a:t>Tier 0: Root Manufacturer (1 Node):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Apex Motors (MFG) — Final vehicle assembly plant requiring all Tier 1 subsystems.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7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B6D4"/>
                </a:solidFill>
              </a:defRPr>
            </a:pPr>
            <a:r>
              <a:t>Tier 1: Major Subsystems (6 Nodes):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Battery Pack (BP), Powertrain (PT), Chassis (CH), Electronics (EL), Interior (IN), Body (BD).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06B6D4"/>
                </a:solidFill>
              </a:defRPr>
            </a:pPr>
            <a:r>
              <a:t>Tier 2: Key Assemblies (19 Nodes):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Battery Cells (BC), BMS, Inverter (INV), Motor (MOT), Circuit Boards (PCB), Steering, Suspension.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F59E0B"/>
                </a:solidFill>
              </a:defRPr>
            </a:pPr>
            <a:r>
              <a:t>Tier 3: Fabricators (28 Nodes):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Microcontroller Foundry (MCU), Rare Earth Magnets (MAG), Silicon Wafer (SIL), Glass (GLS).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F43F5E"/>
                </a:solidFill>
              </a:defRPr>
            </a:pPr>
            <a:r>
              <a:t>Tier 4: Raw Material Mines (9 Nodes):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Lithium (LITH), Cobalt (COBALT), Silica Quartz (SILICA), Iron Ore (IRONORE), Rubber (RUBBER).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INGESTION: SUPPLIERS.CSV (63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Columns: id, name, tier, has_backup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id: Unique alphanumeric identifier (e.g. MFG, BP, MCU, SILICA)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name: Legal operating entity name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tier: Supply hierarchy level (0 to 4)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has_backup: Boolean (True if secondary alternate supplier contracted)</a:t>
            </a:r>
          </a:p>
          <a:p>
            <a:pPr>
              <a:spcAft>
                <a:spcPts val="300"/>
              </a:spcAft>
              <a:defRPr sz="1000">
                <a:solidFill>
                  <a:srgbClr val="F59E0B"/>
                </a:solidFill>
              </a:defRPr>
            </a:pPr>
            <a:r>
              <a:t>Data Fix: Cleaned Excel paste artifact 'MFG+EA2:E55' -&gt; 'MFG' to re-link Apex Motors root node correctly.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96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INGESTION: DEPENDENCIES.CSV (76 EDGES)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Columns: from, to, weight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from: Dependent supplier (needs input)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to: Supplying entity (provides parts / materials)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weight: Procurement lead time in DAYS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Example Edges:</a:t>
            </a:r>
          </a:p>
          <a:p>
            <a:pPr>
              <a:spcAft>
                <a:spcPts val="3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MFG -&gt; BP (weight: 10 days)  |  PT -&gt; MOT (weight: 16 days)</a:t>
            </a:r>
          </a:p>
          <a:p>
            <a:pPr>
              <a:spcAft>
                <a:spcPts val="3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CATH -&gt; LITH (weight: 30 days)  |  MAG -&gt; RAREEARTH (weight: 35 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2 • SRC/TRAVERSAL.PY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Cycle Detection Algorithm (3-Color 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ALGORITHM: 3-COLOR RECURSIVE 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Color Coding States: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WHITE (0): Unvisited node.</a:t>
            </a:r>
            <a:br/>
            <a:r>
              <a:t>• GRAY (1): Currently exploring on the active DFS path.</a:t>
            </a:r>
            <a:br/>
            <a:r>
              <a:t>• BLACK (2): Fully visited; all subtrees explored.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Back-Edge Detection: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When traversing node u -&gt; v:</a:t>
            </a:r>
            <a:br/>
            <a:r>
              <a:t>If color[v] == GRAY: We encountered an ancestor on the current recursion path -&gt; A CYCLE EXISTS!</a:t>
            </a:r>
            <a:br/>
            <a:r>
              <a:t>If color[v] == WHITE: Recursively visit v.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Cycle Extraction Logic: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cycle_start_index = path.index(neighbor)</a:t>
            </a:r>
            <a:br/>
            <a:r>
              <a:t>cycles.append(path[cycle_start_index:] + [neighbor])</a:t>
            </a:r>
            <a:br/>
            <a:r>
              <a:t>Extracts the exact sequence forming the loop.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Time &amp; Space Complexity: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Time: O(V + E) — every node and edge examined at most twice.</a:t>
            </a:r>
            <a:br/>
            <a:r>
              <a:t>• Space: O(V) for color array and path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DETECTION RESULTS: 2 REAL DEADLOCK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F59E0B"/>
                </a:solidFill>
              </a:defRPr>
            </a:pPr>
            <a:r>
              <a:t>CYCLE LOOP #1 (Battery Subsystem):</a:t>
            </a:r>
          </a:p>
          <a:p>
            <a:pPr>
              <a:spcAft>
                <a:spcPts val="400"/>
              </a:spcAft>
              <a:defRPr b="1" sz="1600">
                <a:solidFill>
                  <a:srgbClr val="F8FAFC"/>
                </a:solidFill>
                <a:latin typeface="Consolas"/>
              </a:defRPr>
            </a:pPr>
            <a:r>
              <a:t>BMS ➔ TC ➔ BMS</a:t>
            </a:r>
          </a:p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</a:defRPr>
            </a:pPr>
            <a:r>
              <a:t>• BMS (Battery Management System) depends on TC (Thermal Cooling, wt: 4d).</a:t>
            </a:r>
            <a:br/>
            <a:r>
              <a:t>• TC depends back on BMS (wt: 3d) for sensor control logic.</a:t>
            </a:r>
            <a:br/>
            <a:r>
              <a:t>• Impact: Neither can be fully assembled without the other.</a:t>
            </a:r>
          </a:p>
          <a:p>
            <a:pPr>
              <a:spcAft>
                <a:spcPts val="400"/>
              </a:spcAft>
              <a:defRPr b="1" sz="1200">
                <a:solidFill>
                  <a:srgbClr val="F59E0B"/>
                </a:solidFill>
              </a:defRPr>
            </a:pPr>
            <a:r>
              <a:t>CYCLE LOOP #2 (Powertrain Subsystem):</a:t>
            </a:r>
          </a:p>
          <a:p>
            <a:pPr>
              <a:spcAft>
                <a:spcPts val="400"/>
              </a:spcAft>
              <a:defRPr b="1" sz="1600">
                <a:solidFill>
                  <a:srgbClr val="F8FAFC"/>
                </a:solidFill>
                <a:latin typeface="Consolas"/>
              </a:defRPr>
            </a:pPr>
            <a:r>
              <a:t>MOT ➔ INV ➔ MOT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MOT (Electric Motor Assembly) depends on INV (Inverter Systems, wt: 5d).</a:t>
            </a:r>
            <a:br/>
            <a:r>
              <a:t>• INV depends on MOT (wt: 4d) for motor rotor calibration.</a:t>
            </a:r>
            <a:br/>
            <a:r>
              <a:t>• Impact: Mutual recursive dependency blocks procurement sign-off.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2 • SRC/TRAVERSAL.PY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Topological Sort &amp; Procurement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KAHN'S ALGORITHM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Concept: Safe Assembly Sequencing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 a dependency graph, procurement must start at leaf suppliers (raw materials) that have ZERO unresolved dependencies, working upwards to Tier 0.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Out-Degree Resolution Logic: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remaining_deps = {node: len(get_neighbors(node))}</a:t>
            </a:r>
            <a:br/>
            <a:r>
              <a:t>queue = deque([node for node in nodes if remaining_deps[node] == 0])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Iterative Resolution: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While queue is not empty:</a:t>
            </a:r>
            <a:br/>
            <a:r>
              <a:t> 1. Pop leaf node u and append to valid order list.</a:t>
            </a:r>
            <a:br/>
            <a:r>
              <a:t> 2. For each dependent v that relies on u (get_predecessors):</a:t>
            </a:r>
            <a:br/>
            <a:r>
              <a:t>    remaining_deps[v] -= 1</a:t>
            </a:r>
            <a:br/>
            <a:r>
              <a:t>    if remaining_deps[v] == 0: queue.append(v)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DAG Validation Condition: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is_valid = (len(order) == len(all_suppliers))</a:t>
            </a:r>
            <a:br/>
            <a:r>
              <a:t>If order length &lt; total suppliers, remaining nodes are locked in cycles!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EXECUTION RESULT: ORDER BLOCKED BY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43F5E"/>
                </a:solidFill>
              </a:defRPr>
            </a:pPr>
            <a:r>
              <a:t>EXECUTION STATUS: INCOMPLETE (CYCLIC)</a:t>
            </a:r>
          </a:p>
          <a:p>
            <a:pPr>
              <a:spcAft>
                <a:spcPts val="1200"/>
              </a:spcAft>
              <a:defRPr sz="1050">
                <a:solidFill>
                  <a:srgbClr val="F8FAFC"/>
                </a:solidFill>
              </a:defRPr>
            </a:pPr>
            <a:r>
              <a:t>When running topological_sort(graph):</a:t>
            </a:r>
            <a:br/>
            <a:r>
              <a:t>Kahn's algorithm successfully processes leaf raw materials (Lithium, Silica, Iron Ore, Rubber), but CANNOT resolve BMS, TC, MOT, and INV due to circular reference.</a:t>
            </a:r>
          </a:p>
          <a:p>
            <a:pPr>
              <a:spcAft>
                <a:spcPts val="14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Console Output from src/main.py:</a:t>
            </a:r>
            <a:br/>
            <a:r>
              <a:t>'Topological sort INCOMPLETE -- 2 cycle(s) block a valid procurement order.'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Business / Engineering Value:</a:t>
            </a:r>
            <a:br/>
            <a:r>
              <a:t>This algorithm automatically flags production bottlenecks before factory contracts are signed, proving that supply agreements require restructuring (e.g. decoupled buffer inventory).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3 • SRC/RISK_SCORING.PY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Structural Criticality &amp; Downstream Blast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ALGORITHM: REVERSE BFS OVER PREDECESSORS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The 'Blast Radius' Question: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If Supplier X is hit by a disaster or factory shutdown, how many other suppliers across the entire network will be impacted?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Reverse Traversal Logic: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Standard BFS follows get_neighbors ('who do I need').</a:t>
            </a:r>
            <a:br/>
            <a:r>
              <a:t>Reverse BFS follows get_predecessors ('who relies on me').</a:t>
            </a:r>
            <a:br/>
            <a:r>
              <a:t>Starting at node X, explore all reachable nodes in the transposed graph.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Mathematical Formulation: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Criticality(u) = | { v ∈ V : u reaches v in G_reversed } | - 1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Key Discovery: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Criticality is NOT determined by direct degree alone. Upstream raw material mines with low direct degree have immense multi-tier downstream impact.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TOP 5 MOST CRITICAL SUPPLIERS IN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48840"/>
            <a:ext cx="484632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2199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#1  SILICA — Silica Quartz Mine (Tier 4)</a:t>
            </a:r>
          </a:p>
          <a:p>
            <a:pPr>
              <a:defRPr sz="950" b="1">
                <a:solidFill>
                  <a:srgbClr val="F43F5E"/>
                </a:solidFill>
              </a:defRPr>
            </a:pPr>
            <a:r>
              <a:t>Impact: 10 Nodes Affected across automotive subsystems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80360"/>
            <a:ext cx="484632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5351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#2  MCU — Microcontroller Foundry (Tier 3)</a:t>
            </a:r>
          </a:p>
          <a:p>
            <a:pPr>
              <a:defRPr sz="950" b="1">
                <a:solidFill>
                  <a:srgbClr val="F43F5E"/>
                </a:solidFill>
              </a:defRPr>
            </a:pPr>
            <a:r>
              <a:t>Impact: 9 Nodes Affected across automotive subsystems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11880"/>
            <a:ext cx="484632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8503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#3  PETRO — Petrochemical Refinery (Tier 4)</a:t>
            </a:r>
          </a:p>
          <a:p>
            <a:pPr>
              <a:defRPr sz="950" b="1">
                <a:solidFill>
                  <a:srgbClr val="F43F5E"/>
                </a:solidFill>
              </a:defRPr>
            </a:pPr>
            <a:r>
              <a:t>Impact: 9 Nodes Affected across automotive subsystems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484632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41655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#4  IRONORE — Iron Ore Mine (Tier 4)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Impact: 7 Nodes Affected across automotive subsystems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074920"/>
            <a:ext cx="4846320" cy="640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14807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#5  IRON — Iron Ore Processor (Tier 3)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Impact: 6 Nodes Affected across automotive subsystems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3 • SRC/RISK_SCORING.PY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Single Points of Failure (SPOF)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SPOF DEFINITION &amp; DETECTION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The Dual SPOF Condition: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 find_single_points_of_failure(graph):</a:t>
            </a:r>
            <a:br/>
            <a:r>
              <a:t>A supplier node u is flagged if AND ONLY IF:</a:t>
            </a:r>
            <a:br/>
            <a:r>
              <a:t> 1. len(get_predecessors(u)) &gt; 0 (At least 1 node depends on it)</a:t>
            </a:r>
            <a:br/>
            <a:r>
              <a:t> 2. metadata[u]['has_backup'] == False (Zero secondary source)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Operational Implication: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If a SPOF experiences disruption, the reliant systems have NO pre-contracted alternate route. Production immediately halts.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Detection Summary: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Out of 63 suppliers in Apex Motors' network, exactly 16 SUPPLIERS (25.4%) are unhedged Single Points of Failure!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Strategic Action: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Gives procurement executives an automated target list for dual-sourcing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16 IDENTIFIED SINGLE POINTS OF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F43F5E"/>
                </a:solidFill>
              </a:defRPr>
            </a:pPr>
            <a:r>
              <a:t>TIER 2 CRITICAL ASSEMBLIES (5 SPOFs):</a:t>
            </a:r>
          </a:p>
          <a:p>
            <a:pPr>
              <a:spcAft>
                <a:spcPts val="1000"/>
              </a:spcAft>
              <a:defRPr sz="950">
                <a:solidFill>
                  <a:srgbClr val="F8FAFC"/>
                </a:solidFill>
              </a:defRPr>
            </a:pPr>
            <a:r>
              <a:t>• BC (Battery Cell Mfg)  • MOT (Electric Motor Assembly)</a:t>
            </a:r>
            <a:br/>
            <a:r>
              <a:t>• PCB (Circuit Board Mfg)  • DIS (Display Panel)  • GLS (Glass Mfg)</a:t>
            </a:r>
          </a:p>
          <a:p>
            <a:pPr>
              <a:spcAft>
                <a:spcPts val="200"/>
              </a:spcAft>
              <a:defRPr b="1" sz="1050">
                <a:solidFill>
                  <a:srgbClr val="F59E0B"/>
                </a:solidFill>
              </a:defRPr>
            </a:pPr>
            <a:r>
              <a:t>TIER 3 SUBCOMPONENTS &amp; FABRICATORS (6 SPOFs):</a:t>
            </a:r>
          </a:p>
          <a:p>
            <a:pPr>
              <a:spcAft>
                <a:spcPts val="1000"/>
              </a:spcAft>
              <a:defRPr sz="950">
                <a:solidFill>
                  <a:srgbClr val="F8FAFC"/>
                </a:solidFill>
              </a:defRPr>
            </a:pPr>
            <a:r>
              <a:t>• CATH (Cathode Material)  • SEP (Separator Film)</a:t>
            </a:r>
            <a:br/>
            <a:r>
              <a:t>• MCU (Microcontroller Foundry)  • MAG (Rare Earth Magnet)</a:t>
            </a:r>
            <a:br/>
            <a:r>
              <a:t>• TIRE (Tire Rubber Supplier)  • SIL (Silicon Wafer Supply)</a:t>
            </a:r>
            <a:br/>
            <a:r>
              <a:t>• LCD (LCD Panel Manufacturer)</a:t>
            </a:r>
          </a:p>
          <a:p>
            <a:pPr>
              <a:spcAft>
                <a:spcPts val="200"/>
              </a:spcAft>
              <a:defRPr b="1" sz="1050">
                <a:solidFill>
                  <a:srgbClr val="06B6D4"/>
                </a:solidFill>
              </a:defRPr>
            </a:pPr>
            <a:r>
              <a:t>TIER 4 RAW MATERIAL MINING (5 SPOFs):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LITH (Lithium Mining Co)  • COBALT (Cobalt Mining Co)</a:t>
            </a:r>
            <a:br/>
            <a:r>
              <a:t>• RAREEARTH (Rare Earth Ore Mine)  • RUBBER (Natural Rubber Plantation)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3 • SRC/RISK_SCORING.PY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Shortest Lead-Time via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ALGORITHM: MIN-HEAP DIJKSTRA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Physical Interpretation of Weights: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Edge weight = Supplier procurement lead time in DAYS.</a:t>
            </a:r>
            <a:br/>
            <a:r>
              <a:t>The 'lowest-risk' or fastest delivery path from Apex Motors (MFG) to any supplier is the weighted shortest path.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Min-Heap Priority Queue: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Implemented using Python's heapq module:</a:t>
            </a:r>
            <a:br/>
            <a:r>
              <a:t>• distances = {start: 0}</a:t>
            </a:r>
            <a:br/>
            <a:r>
              <a:t>• heap = [(0, start)]</a:t>
            </a:r>
            <a:br/>
            <a:r>
              <a:t>• Pops lowest cumulative lead time node greedily.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Time Complexity: O((V + E) log V):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With 63 nodes and 76 edges, Dijkstra computes instantaneous results in under 2 milliseconds.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Network Summary Statistics: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Average Lead Time from MFG: 27.1 Days</a:t>
            </a:r>
            <a:br/>
            <a:r>
              <a:t>• Minimum Lead Time: 6.0 Days (IN - Interior Systems)</a:t>
            </a:r>
            <a:br/>
            <a:r>
              <a:t>• Maximum Lead Time: 85.0 Days (RAREEARTH - Rare Earth Mine)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LEAD-TIME PATH LENGTHS FROM ROOT (MFG)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10B981"/>
                </a:solidFill>
              </a:defRPr>
            </a:pPr>
            <a:r>
              <a:t>TIER 1 SUBSYSTEMS (Direct to MFG):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IN (Interior): 6.0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EL (Electronics): 7.0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CH (Chassis): 8.0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BD (Body): 9.0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BP (Battery Pack): 10.0 days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  <a:defRPr b="1" sz="1000">
                <a:solidFill>
                  <a:srgbClr val="F59E0B"/>
                </a:solidFill>
              </a:defRPr>
            </a:pPr>
            <a:r>
              <a:t>INTERMEDIATE ASSEMBLIES (Tier 2-3):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BMS (Battery Mgmt): 20.0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BC (Battery Cell): 24.0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MOT (Electric Motor): 28.0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MCU (Microcontroller): 38.0 days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  <a:defRPr b="1" sz="1000">
                <a:solidFill>
                  <a:srgbClr val="F43F5E"/>
                </a:solidFill>
              </a:defRPr>
            </a:pPr>
            <a:r>
              <a:t>DEEP RAW MATERIAL EXTRACTION (Tier 4):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SILICA (Silica Quartz): 45.0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LITH (Lithium Mine): 64.0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COBALT (Cobalt Mine): 70.0 days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• MFG -&gt; ... -&gt; RAREEARTH (Rare Earth Ore): 85.0 days (LONGEST)</a:t>
            </a:r>
          </a:p>
          <a:p>
            <a:pPr>
              <a:spcAft>
                <a:spcPts val="400"/>
              </a:spcAft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3 • SRC/RISK_SCORING.PY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Dynamic Disruption Simulation &amp; Alternate Path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ALTERNATE PATH SEARCH: FIND_ALTERNATE_PATH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Operational Scenario: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When a critical supplier node goes down (e.g. factory strike, export ban), can the upstream manufacturer reach the needed component through an alternate route?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Algorithm Mechanics: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find_alternate_path(graph, start, target, avoid_node):</a:t>
            </a:r>
            <a:br/>
            <a:r>
              <a:t>• Queue stores (current_node, path_so_far)</a:t>
            </a:r>
            <a:br/>
            <a:r>
              <a:t>• Performs BFS from start to target</a:t>
            </a:r>
            <a:br/>
            <a:r>
              <a:t>• Strictly skips neighbor == avoid_node</a:t>
            </a:r>
            <a:br/>
            <a:r>
              <a:t>• Returns shortest hop alternate path or None.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Time Complexity: O(V + E):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Linear time BFS guaranteeing the shortest alternate bypass route in terms of supplier hops.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Integration with Simulation: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Simulates real-world resilience: if an alternate path exists, disruption severity is downgraded from catastrophic to manageable.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CASE STUDY: SIMULATING SILICA MINE HALT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F43F5E"/>
                </a:solidFill>
              </a:defRPr>
            </a:pPr>
            <a:r>
              <a:t>SIMULATION INPUT: DISRUPT NODE 'SILICA' (Tier 4 Mine)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1. Direct Dependents Hit: SIL (Silicon Wafer) &amp; SAND (Silica Sand)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2. Secondary Cascade: PCB (Circuit Board), SEN (Sensors), GLS (Glass)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3. Tertiary Subsystems: EL (Electronics Subsystem), BD (Body/Exterior)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4. Final Assembly: MFG (Apex Motors) HALTED! Final assembly stalls.</a:t>
            </a:r>
          </a:p>
          <a:p>
            <a:br/>
            <a:pPr>
              <a:defRPr b="1" sz="1050">
                <a:solidFill>
                  <a:srgbClr val="F59E0B"/>
                </a:solidFill>
              </a:defRPr>
            </a:pPr>
            <a:r>
              <a:t>SIMULATION METRICS: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Downstream Blast Radius: 10 Suppliers Paralyzed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Assembly Halted: YES (Apex Motors Tier 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Has Contracted Backup: TRUE (Secondary mine contracted)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Recommendation: Activate dual-source contract to absorb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4 • SRC/VISUALIZE.PY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Graph Visualization &amp; Automated Alert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VISUAL ENCODING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Design Philosophy: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Uses NetworkX purely as a layout/drawing helper; all graph traversals, cycles, and risk scores originate from OUR OWN custom algorithms.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Visual Color Coding: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• RED Nodes: Single Points of Failure (SPOFs) with zero backup.</a:t>
            </a:r>
            <a:br/>
            <a:r>
              <a:t>• ORANGE Nodes: Nodes trapped in detected circular dependencies.</a:t>
            </a:r>
            <a:br/>
            <a:r>
              <a:t>• BLUE Nodes: Standard stable suppliers.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Criticality-Proportional Sizing: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Node size scales with reverse BFS downstream impact:</a:t>
            </a:r>
            <a:br/>
            <a:r>
              <a:t>node_size = 300 + (criticality / max_criticality) * 1400</a:t>
            </a:r>
            <a:br/>
            <a:r>
              <a:t>Makes systemic bottlenecks visually prominent immediately.</a:t>
            </a:r>
          </a:p>
          <a:p>
            <a:pPr>
              <a:spcAft>
                <a:spcPts val="200"/>
              </a:spcAft>
              <a:defRPr b="1" sz="1100">
                <a:solidFill>
                  <a:srgbClr val="06B6D4"/>
                </a:solidFill>
              </a:defRPr>
            </a:pPr>
            <a:r>
              <a:t>Output Artifact Generation: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Saved to: output/dependency_graph.png (DPI: 150)</a:t>
            </a:r>
            <a:br/>
            <a:r>
              <a:t>Accompanied by print_alerts() console risk digest.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GENERATED GRAPH: OUTPUT/DEPENDENCY_GRAPH.PNG</a:t>
            </a:r>
          </a:p>
        </p:txBody>
      </p:sp>
      <p:pic>
        <p:nvPicPr>
          <p:cNvPr id="10" name="Picture 9" descr="dependen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884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TEST SUITE • TESTS/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Testing, Verification &amp; Code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AUTOMATED UNIT TEST SUITE (100% PASS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test_graph_loading()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63 unique suppliers, 76 dependencies, Apex Motors root MFG tier 0, and correct metadata dictionary binding.</a:t>
            </a:r>
          </a:p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test_cycle_detection()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exactly 2 circular loops detected via 3-color DFS. Asserts membership of BMS, TC, MOT, and INV.</a:t>
            </a:r>
          </a:p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test_spof_detection()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all 16 Single Points of Failure. Asserts BC and MOT are flagged while SILICA (backup=True) is correctly exempted.</a:t>
            </a:r>
          </a:p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test_dijkstra()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minimum lead-time distance calculations from root MFG: MFG=0d, BP=10d, PT=12d, and RAREEARTH=85d max.</a:t>
            </a:r>
          </a:p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test_criticality()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reverse BFS predecessor reachability. Confirms SILICA &gt;= 10 affected nodes and MCU &gt;= 9 affected nodes.</a:t>
            </a:r>
          </a:p>
          <a:p>
            <a:pPr>
              <a:spcAft>
                <a:spcPts val="100"/>
              </a:spcAft>
              <a:defRPr b="1" sz="1100">
                <a:solidFill>
                  <a:srgbClr val="10B981"/>
                </a:solidFill>
              </a:defRPr>
            </a:pPr>
            <a:r>
              <a:t>✓ test_alternate_path()  [PASSED]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Verifies alternate route search. Confirms MFG can reach target BP when avoiding intermediate 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CONCLUSION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Summary of Work Delivered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WHAT HAS BEEN IMPLEMENTED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✓ High-Performance Graph Core (`src/graph.py`)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Dual adjacency list O(V + E) memory layout, O(1) bi-directional neighbor and predecessor lookups.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Cycle &amp; Sequencing Suite (`src/traversal.py`)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3-Color DFS cycle detection discovering 2 real deadlocks; Kahn's topological sort build sequence validator.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Risk &amp; Disruption Engine (`src/risk_scoring.py`)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Reverse BFS blast-radius criticality scoring; 16-node SPOF detector; min-heap Dijkstra lead-time solver; alternate path router.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Clean 5-Tier Dataset (`data/`)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63 active supplier facilities across 5 tiers; 76 lead-time weighted dependencies; cleaned manufacturer node typography.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✓ Verification &amp; Artifacts (`tests/`, `output/`)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6 automated unit tests passing 100%; publication-ready Matplotlib dependency graph PNG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FUTURE EXTENSIONS &amp;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➔ Dynamic Lead-Time Influx: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Incorporate real-time shipping variance and port congestion stochastic edge weights into Dijkstra calculations.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➔ Maximum Flow / Minimum Cut (Edmonds-Karp):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Model daily parts throughput capacity to identify maximum throughput bottlenecks between Tier 4 mines and Tier 0 assembly.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➔ Multi-Tier Inventory Buffer Optimization: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Algorithmically determine optimal safety stock inventory levels for the 16 identified Single Points of Failure.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➔ Automated Mitigation Contract Generation: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Auto-suggest dual-sourcing partner candidates based on geographic proximity and tier compatibility.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